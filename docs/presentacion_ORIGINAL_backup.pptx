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17"/>
    <p:sldId id="267" r:id="rId1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churn</c:v>
                </c:pt>
              </c:strCache>
            </c:strRef>
          </c:tx>
          <c:spPr>
            <a:solidFill>
              <a:srgbClr val="000F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58.3</c:v>
                </c:pt>
                <c:pt idx="1">
                  <c:v>56.7</c:v>
                </c:pt>
                <c:pt idx="2">
                  <c:v>55.3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churn</c:v>
                </c:pt>
              </c:strCache>
            </c:strRef>
          </c:tx>
          <c:spPr>
            <a:solidFill>
              <a:srgbClr val="F96B7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B7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0F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0F9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Monthly</c:v>
                  </c:pt>
                  <c:pt idx="1">
                    <c:v>Quarterly</c:v>
                  </c:pt>
                  <c:pt idx="2">
                    <c:v>Annual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47</c:v>
                </c:pt>
                <c:pt idx="2">
                  <c:v>45.1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Correlación con la baja</c:v>
                </c:pt>
              </c:strCache>
            </c:strRef>
          </c:tx>
          <c:spPr>
            <a:solidFill>
              <a:srgbClr val="F96B7D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Support Calls</c:v>
                  </c:pt>
                  <c:pt idx="1">
                    <c:v>Payment Delay</c:v>
                  </c:pt>
                  <c:pt idx="2">
                    <c:v>Age</c:v>
                  </c:pt>
                  <c:pt idx="3">
                    <c:v>Total Spend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</c:v>
                </c:pt>
                <c:pt idx="1">
                  <c:v>0.32</c:v>
                </c:pt>
                <c:pt idx="2">
                  <c:v>0.23</c:v>
                </c:pt>
                <c:pt idx="3">
                  <c:v>-0.42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1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Árbol de Decisión</c:v>
                </c:pt>
              </c:strCache>
            </c:strRef>
          </c:tx>
          <c:spPr>
            <a:solidFill>
              <a:srgbClr val="F96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99.48</c:v>
                </c:pt>
                <c:pt idx="1">
                  <c:v>99.39</c:v>
                </c:pt>
                <c:pt idx="2">
                  <c:v>99.7</c:v>
                </c:pt>
                <c:pt idx="3">
                  <c:v>99.48</c:v>
                </c:pt>
                <c:pt idx="4">
                  <c:v>99.82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00F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99.21</c:v>
                </c:pt>
                <c:pt idx="1">
                  <c:v>99.57</c:v>
                </c:pt>
                <c:pt idx="2">
                  <c:v>99.02</c:v>
                </c:pt>
                <c:pt idx="3">
                  <c:v>99.21</c:v>
                </c:pt>
                <c:pt idx="4">
                  <c:v>99.97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Regresión Logística</c:v>
                </c:pt>
              </c:strCache>
            </c:strRef>
          </c:tx>
          <c:spPr>
            <a:solidFill>
              <a:srgbClr val="9AA0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89.47</c:v>
                </c:pt>
                <c:pt idx="1">
                  <c:v>91.65</c:v>
                </c:pt>
                <c:pt idx="2">
                  <c:v>89.58</c:v>
                </c:pt>
                <c:pt idx="3">
                  <c:v>89.48</c:v>
                </c:pt>
                <c:pt idx="4">
                  <c:v>95.83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000F9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Support Calls</c:v>
                  </c:pt>
                  <c:pt idx="1">
                    <c:v>Total Spend</c:v>
                  </c:pt>
                  <c:pt idx="2">
                    <c:v>Age</c:v>
                  </c:pt>
                  <c:pt idx="3">
                    <c:v>Payment Delay</c:v>
                  </c:pt>
                  <c:pt idx="4">
                    <c:v>Last Interaction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</c:v>
                </c:pt>
                <c:pt idx="1">
                  <c:v>0.21</c:v>
                </c:pt>
                <c:pt idx="2">
                  <c:v>0.13</c:v>
                </c:pt>
                <c:pt idx="3">
                  <c:v>0.11</c:v>
                </c:pt>
                <c:pt idx="4">
                  <c:v>0.035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869680" y="-1463040"/>
            <a:ext cx="2926080" cy="2926080"/>
          </a:xfrm>
          <a:prstGeom prst="rect">
            <a:avLst/>
          </a:prstGeom>
          <a:solidFill>
            <a:srgbClr val="1B2AB5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875520" y="5120640"/>
            <a:ext cx="3108960" cy="3108960"/>
          </a:xfrm>
          <a:prstGeom prst="rect">
            <a:avLst/>
          </a:prstGeom>
          <a:solidFill>
            <a:srgbClr val="1B2AB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· CASO Nº 001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de los clientes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desaparecen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thriller de datos en Tokio Telecom  ·  resuelto con Big Data y PySpark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4892040"/>
            <a:ext cx="2377440" cy="41148"/>
          </a:xfrm>
          <a:prstGeom prst="rect">
            <a:avLst/>
          </a:prstGeom>
          <a:solidFill>
            <a:srgbClr val="F96B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al cargo: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David Collazos González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0" y="5989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MISTERIO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raro pasa en Tokio Telecom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DE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lunes por la mañana. El equipo de dirección mira el panel de clientes y no da crédito: 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clientes se está vaciando y nadie sabe por qué.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misión: descubrir quién se va, por qué, y — sobre todo — poder anticiparlo antes de perderlo.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297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0" y="21488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56,7 %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731520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clientes se dan de baja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0" y="4069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6 de cada 10. Un churn altísimo: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retención pasa a ser prioridad nº 1.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EXPEDIENTE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pruebas: 10.000 clientes bajo la lupa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acusar a nadie, revisamos las pruebas. Cada cliente deja 12 rastros que Cassandra guarda y PySpark analiza: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97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archivo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514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697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38328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rastros por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(campos)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514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697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(Basic/Std/Premium)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52560" y="2514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2697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05256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 clave: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CustomerID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solo una etiqueta (identificador), no un dato con el que razonar: lo apartamos de la investigación.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 · PRIMER INTERROGATORIO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culpa de la tarifa?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2103120"/>
            <a:ext cx="4572000" cy="2743200"/>
          </a:xfrm>
          <a:prstGeom prst="roundRect">
            <a:avLst>
              <a:gd name="adj" fmla="val 4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6948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69480" y="2651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Inocente.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269480" y="333756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tarifas se dan de baja casi por igual (55–58 %). El tipo de tarifa apenas distingue quién se marcha: no es nuestro culpable.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II · EL SOSPECHOSO CONFESO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contrato mensual lo confiesa todo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82880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000F9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1965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704088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clientes mensuales SE VA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86600" y="38404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permanencia, se van todos.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a contrato trimestral o anual reduce la fuga a la mitad (~46 %). El compromiso es el mejor pegamento.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III · LAS HUELLAS DACTILARES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delata a un cliente a punto de irse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Leyendo las huellas: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0" y="235000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96B7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23500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+0,58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6676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llamadas a soporte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aviso nº 1 de fuga.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0" y="340156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96B7D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34015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+0,32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66760" y="3337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Retrasos en el pago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Frustración que acaba en baja.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15200" y="445312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000F9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4453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−0,42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66760" y="4389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Cuanto más gasta, más se queda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gasto protege de la baja.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IV · LA BOLA DE CRISTAL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Enseñamos a la máquina a predecir la fuga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9202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2F3FB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680960" y="20574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0,9997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68096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AUC en test · Random Forest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3931920"/>
            <a:ext cx="3977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Entrenamos con Grid Search + validación cruzada (5-fold), optimizando el AUC (no la accuracy). Comparamos Árbol de Decisión y Random Forest; el bosque gana con AUC 0,9997 en test y solo falla en 23 de 2.896 clientes.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V · EL RETRATO ROBOT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es el cliente que está a punto de huir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20240"/>
            <a:ext cx="4297680" cy="3566160"/>
          </a:xfrm>
          <a:prstGeom prst="roundRect">
            <a:avLst>
              <a:gd name="adj" fmla="val 3077"/>
            </a:avLst>
          </a:prstGeom>
          <a:solidFill>
            <a:srgbClr val="000F9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BUSCA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0" y="2514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en fuga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0" y="31089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Llama mucho a soporte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 retrasa en los pagos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Gasta poco al mes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Contrato sin permanencia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VEREDICTO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para dejar de perder clientes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Atar la permanencia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Incentivar el salto de contrato mensual a trimestral/anual: es donde la fuga cae a la mitad.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99432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Vigilar el soporte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99432" y="3794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cliente con muchas llamadas o pagos atrasados enciende una alerta de retención.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2194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75904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 con el modelo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75904" y="3794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marca cada mes a los clientes en riesgo. El equipo llama antes de perderlos.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1371600" y="4937760"/>
            <a:ext cx="3108960" cy="3108960"/>
          </a:xfrm>
          <a:prstGeom prst="rect">
            <a:avLst/>
          </a:prstGeom>
          <a:solidFill>
            <a:srgbClr val="1B2AB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CERRADO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sabemos quién se va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cómo evitarlo.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CA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misterio a una estrategia de retención medible: Big Data ha convertido 10.000 clientes anónimos en decisiones que protegen los ingresos de Tokio Telecom.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 </a:t>
            </a:r>
            <a:pPr indent="0" marL="0">
              <a:buNone/>
            </a:pPr>
            <a:r>
              <a:rPr lang="en-US" sz="1400" dirty="0">
                <a:solidFill>
                  <a:srgbClr val="AAB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David Collazos González · Analista Big Data · Tokio Telecom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49840" y="5989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10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IV · LA RUEDA DE RECONOCIMIENTO</a:t>
            </a:r>
            <a:endParaRPr lang="en-US" sz="1200" dirty="0"/>
          </a:p>
        </p:txBody>
      </p:sp>
      <p:sp>
        <p:nvSpPr>
          <p:cNvPr id="211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Comparamos a los tres sospechosos: train vs test</a:t>
            </a:r>
            <a:endParaRPr lang="en-US" sz="3300" dirty="0"/>
          </a:p>
        </p:txBody>
      </p:sp>
      <p:sp>
        <p:nvSpPr>
          <p:cNvPr id="212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213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pic>
        <p:nvPicPr>
          <p:cNvPr id="214" name="Picture 213" descr="t6_tabla_compara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2148840"/>
            <a:ext cx="11338560" cy="2478004"/>
          </a:xfrm>
          <a:prstGeom prst="rect">
            <a:avLst/>
          </a:prstGeom>
        </p:spPr>
      </p:pic>
      <p:sp>
        <p:nvSpPr>
          <p:cNvPr id="215" name="TextBox 214"/>
          <p:cNvSpPr txBox="1"/>
          <p:nvPr/>
        </p:nvSpPr>
        <p:spPr>
          <a:xfrm>
            <a:off x="792480" y="5394960"/>
            <a:ext cx="106070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i="1">
                <a:solidFill>
                  <a:srgbClr val="F96B7D"/>
                </a:solidFill>
                <a:latin typeface="Arial"/>
              </a:rPr>
              <a:t>El AUC en train ≈ test ⇒ no hay sobreajuste. Métrica de referencia: AUC, no la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30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9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 IV · LA PRUEBA DEFINITIVA</a:t>
            </a:r>
            <a:endParaRPr lang="en-US" sz="1200" dirty="0"/>
          </a:p>
        </p:txBody>
      </p:sp>
      <p:sp>
        <p:nvSpPr>
          <p:cNvPr id="231" name="Text 1"/>
          <p:cNvSpPr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curva ROC no miente: quién ordena mejor el riesgo</a:t>
            </a:r>
            <a:endParaRPr lang="en-US" sz="3300" dirty="0"/>
          </a:p>
        </p:txBody>
      </p:sp>
      <p:sp>
        <p:nvSpPr>
          <p:cNvPr id="232" name="Text 6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TELECOM</a:t>
            </a:r>
            <a:pPr algn="l" indent="0" marL="0">
              <a:buNone/>
            </a:pPr>
            <a:r>
              <a:rPr lang="en-US" sz="900" dirty="0">
                <a:solidFill>
                  <a:srgbClr val="6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Proyecto Big Data · Juan David Collazos González</a:t>
            </a:r>
            <a:endParaRPr lang="en-US" sz="900" dirty="0"/>
          </a:p>
        </p:txBody>
      </p:sp>
      <p:sp>
        <p:nvSpPr>
          <p:cNvPr id="233" name="Text 7"/>
          <p:cNvSpPr/>
          <p:nvPr/>
        </p:nvSpPr>
        <p:spPr>
          <a:xfrm>
            <a:off x="111556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pic>
        <p:nvPicPr>
          <p:cNvPr id="234" name="Picture 233" descr="t6_roc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213" y="1783080"/>
            <a:ext cx="9539574" cy="4160519"/>
          </a:xfrm>
          <a:prstGeom prst="rect">
            <a:avLst/>
          </a:prstGeom>
        </p:spPr>
      </p:pic>
      <p:sp>
        <p:nvSpPr>
          <p:cNvPr id="235" name="TextBox 234"/>
          <p:cNvSpPr txBox="1"/>
          <p:nvPr/>
        </p:nvSpPr>
        <p:spPr>
          <a:xfrm>
            <a:off x="792480" y="5989320"/>
            <a:ext cx="106070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i="1">
                <a:solidFill>
                  <a:srgbClr val="1A1A2E"/>
                </a:solidFill>
                <a:latin typeface="Arial"/>
              </a:rPr>
              <a:t>Cuanto más pegada a la esquina, mejor. En train y en test las curvas son casi idénticas: el modelo generaliza.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Tokio Telecom — El caso de los clientes que desaparecen</dc:title>
  <dc:subject>PptxGenJS Presentation</dc:subject>
  <dc:creator>Juan David Collazos González</dc:creator>
  <cp:lastModifiedBy>Juan David Collazos González</cp:lastModifiedBy>
  <cp:revision>1</cp:revision>
  <dcterms:created xsi:type="dcterms:W3CDTF">2026-07-03T01:09:45Z</dcterms:created>
  <dcterms:modified xsi:type="dcterms:W3CDTF">2026-07-03T01:09:45Z</dcterms:modified>
</cp:coreProperties>
</file>